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1" r:id="rId2"/>
    <p:sldId id="273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08A69-8B60-48CD-A87E-0E2C1210282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4DD8-C8D2-4779-91A1-DE2802D46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436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46775-4608-5FD9-7C75-04B603579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E8038-5A49-C976-ECE0-3E04CD3C2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D1098-0D43-7A89-26C9-C1149DBC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FDAB-B43C-4F65-B801-9C4D2F688977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686AD-79E7-532C-A722-A701B98ED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DC01F-8239-69A1-4A59-8BB97E76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FD20-6FA7-491F-8CB5-DCCA73FBB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639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70D7-5189-E7FE-69DD-352F4A627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D0870-957A-32EF-393F-F181DB034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01AD-80F0-D31A-45B5-6AF09E70A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FDAB-B43C-4F65-B801-9C4D2F688977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34E0D-9A0A-DA9F-A4F2-8643A36B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2CD3B-1F02-F033-9A56-14E07142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FD20-6FA7-491F-8CB5-DCCA73FBB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706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ABAA2-620F-41D1-DDC8-413F0E3DE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9488C-638C-5B9E-7EBB-4D83A6B19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80F7C-D922-4C47-2F1A-D9529887C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FDAB-B43C-4F65-B801-9C4D2F688977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ABB7F-651C-A71E-1F15-6892586A3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08789-7E8D-6B6C-C71B-DD8A357B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FD20-6FA7-491F-8CB5-DCCA73FBB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8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EEF6-12CA-0D19-D5C2-13C3BD6B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B91DB-04D3-0D19-DB85-6320A4AD8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88FD4-D3CE-2FCA-2434-DA01F5902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42299-2D12-D7D5-F185-E3923C4D3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FDAB-B43C-4F65-B801-9C4D2F688977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07B40-C68C-5340-0337-4B1B6C08C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EA901-FC27-3F39-089C-40B5D75F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FD20-6FA7-491F-8CB5-DCCA73FBB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59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90B4-9950-6FDF-53A4-2A71FD799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2ED9F-43AA-8CFE-447A-A4C933692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0961E-BDB6-25C8-006C-06D073CB2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AF6C0D-2E45-9CEA-5E49-D4E0527E60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63A8FC-50F5-4B7A-D4EE-CB899F39B7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9222DE-3E94-0A62-AFE2-B8ECD396C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FDAB-B43C-4F65-B801-9C4D2F688977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73A5E-4552-4042-EA54-63D87CF5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A7DB77-2EDE-50AE-A410-75347321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FD20-6FA7-491F-8CB5-DCCA73FBB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86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45FA-F15D-F27A-CF61-12A4C40A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DA722-B24C-4770-EE87-BD155578C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FDAB-B43C-4F65-B801-9C4D2F688977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BA1B9-EAB2-16BA-3A3F-19BC6514C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E6467-43F8-9787-4476-BA3B69DE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FD20-6FA7-491F-8CB5-DCCA73FBB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15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101D1-5B7F-A5AC-D6DA-19BF391B3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FDAB-B43C-4F65-B801-9C4D2F688977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F1B8D9-FDF2-0708-4DBC-F94B74D16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36243-7C1D-5F0D-186F-4E40EBF0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FD20-6FA7-491F-8CB5-DCCA73FBB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9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40CC2-54E6-217F-361A-910B064D3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7DE24-0FD2-5806-3BAF-49B29FA66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A7E30-7A92-5A8D-0A4F-6E0DED7F4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4F463-E102-8CA5-137D-C4054D79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FDAB-B43C-4F65-B801-9C4D2F688977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BC48D-D753-DFF1-4FBE-C1C1998BC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734E7-36CF-781A-F432-58542CF3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FD20-6FA7-491F-8CB5-DCCA73FBB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915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B87E-F881-646C-2A02-5D3660CF8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B1E51E-6987-E6BA-7E9B-CF2242FF10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AD8C3-CA33-CCF6-9548-7B1392FDE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9F56D-B10F-594A-EB00-E267656FE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FDAB-B43C-4F65-B801-9C4D2F688977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0453C-2A06-A518-72A6-B3F4F1E47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5130F-1B74-B918-68DB-74B185016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FD20-6FA7-491F-8CB5-DCCA73FBB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82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BFD32-5804-4561-F470-56D577B9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D2F57-7C81-DCA1-B4C7-1218ECE83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8977D-6CDB-3BEB-99E8-809664D26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FDAB-B43C-4F65-B801-9C4D2F688977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26C00-9409-73DB-B869-3FFD4966A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EC1A1-A9E1-C165-3A50-A6A457FEF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FD20-6FA7-491F-8CB5-DCCA73FBB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686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39D64D-5DAA-98C7-CFF8-E18351492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1E57C-6F89-B822-33E4-842B6A3E9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ADB9E-FD2A-F7CC-4B80-56C55C5C3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FDAB-B43C-4F65-B801-9C4D2F688977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D07AF-37BB-C924-952C-F71E00807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A1823-5431-AD61-F03A-0E482D6C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FD20-6FA7-491F-8CB5-DCCA73FBB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222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DEE2-BB3D-E43E-05F5-5990566A5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D2337-403F-EACD-2F61-AA2FD35C9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B7C1C-4ECF-D247-1BB2-3B85D86C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FDAB-B43C-4F65-B801-9C4D2F688977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C7881-8A4B-625E-B33D-0B4F9A2F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55E53-C359-1F7A-B323-93C46C0EB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FD20-6FA7-491F-8CB5-DCCA73FBB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784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1" y="2"/>
            <a:ext cx="5467351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474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4F5639-588C-75BA-ED31-9BD7DD4E9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C6169-9F99-0EAE-30D7-43F5F9B81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CD204-2585-D774-E9F9-3419D766E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8FDAB-B43C-4F65-B801-9C4D2F688977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F0576-A10E-D990-AA2E-EF71C7170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221BD-0FDF-176E-DEE2-1F8774234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8FD20-6FA7-491F-8CB5-DCCA73FBB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85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1542532" y="79761"/>
            <a:ext cx="9144000" cy="66370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  <a:latin typeface="Verdana"/>
            </a:endParaRPr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830083"/>
            <a:ext cx="4590531" cy="513637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175327" y="2768716"/>
            <a:ext cx="6511205" cy="274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lvl="1" algn="ctr"/>
            <a:r>
              <a:rPr lang="en-US" sz="2400" b="1" cap="all" dirty="0">
                <a:ln/>
                <a:latin typeface="Verdana"/>
                <a:cs typeface="Poppins" panose="00000500000000000000" pitchFamily="2" charset="0"/>
                <a:sym typeface="BioRhyme ExtraBold"/>
              </a:rPr>
              <a:t>COURSE: </a:t>
            </a:r>
          </a:p>
          <a:p>
            <a:pPr lvl="1" algn="ctr"/>
            <a:endParaRPr lang="en-US" sz="2400" b="1" cap="all" dirty="0">
              <a:ln/>
              <a:latin typeface="Verdana"/>
              <a:cs typeface="Poppins" panose="00000500000000000000" pitchFamily="2" charset="0"/>
              <a:sym typeface="BioRhyme ExtraBold"/>
            </a:endParaRPr>
          </a:p>
          <a:p>
            <a:pPr lvl="1" algn="ctr"/>
            <a:r>
              <a:rPr lang="en-US" sz="2100" b="1" cap="all" dirty="0">
                <a:ln/>
                <a:solidFill>
                  <a:srgbClr val="C00000"/>
                </a:solidFill>
                <a:latin typeface="Verdana"/>
                <a:cs typeface="Poppins" panose="00000500000000000000" pitchFamily="2" charset="0"/>
                <a:sym typeface="BioRhyme ExtraBold"/>
              </a:rPr>
              <a:t>Embedded System Design And </a:t>
            </a:r>
            <a:r>
              <a:rPr lang="en-US" sz="2100" b="1" cap="all" dirty="0" err="1">
                <a:ln/>
                <a:solidFill>
                  <a:srgbClr val="C00000"/>
                </a:solidFill>
                <a:latin typeface="Verdana"/>
                <a:cs typeface="Poppins" panose="00000500000000000000" pitchFamily="2" charset="0"/>
                <a:sym typeface="BioRhyme ExtraBold"/>
              </a:rPr>
              <a:t>Iot</a:t>
            </a:r>
            <a:endParaRPr lang="en-US" sz="2400" b="1" cap="all" dirty="0">
              <a:ln/>
              <a:solidFill>
                <a:srgbClr val="C00000"/>
              </a:solidFill>
              <a:latin typeface="Verdana"/>
              <a:cs typeface="Poppins" panose="00000500000000000000" pitchFamily="2" charset="0"/>
              <a:sym typeface="BioRhyme ExtraBold"/>
            </a:endParaRPr>
          </a:p>
          <a:p>
            <a:pPr lvl="1" algn="ctr"/>
            <a:r>
              <a:rPr lang="en-US" sz="2400" b="1" cap="all" dirty="0">
                <a:ln/>
                <a:solidFill>
                  <a:srgbClr val="C00000"/>
                </a:solidFill>
                <a:latin typeface="Verdana"/>
                <a:cs typeface="Poppins" panose="00000500000000000000" pitchFamily="2" charset="0"/>
                <a:sym typeface="BioRhyme ExtraBold"/>
              </a:rPr>
              <a:t>COURSE CODE:25EC2206</a:t>
            </a:r>
          </a:p>
          <a:p>
            <a:pPr lvl="1" algn="ctr"/>
            <a:endParaRPr lang="en-US" sz="1500" b="1" dirty="0">
              <a:solidFill>
                <a:prstClr val="white">
                  <a:lumMod val="50000"/>
                </a:prstClr>
              </a:solidFill>
              <a:latin typeface="Verdana"/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lvl="1" algn="ctr"/>
            <a:r>
              <a:rPr lang="en-US" sz="2400" b="1" dirty="0">
                <a:latin typeface="Verdana"/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lvl="1" algn="ctr"/>
            <a:r>
              <a:rPr lang="en-US" sz="2100" b="1" cap="all" dirty="0">
                <a:ln/>
                <a:solidFill>
                  <a:srgbClr val="C00000"/>
                </a:solidFill>
                <a:latin typeface="Verdana"/>
                <a:cs typeface="Poppins" panose="00000500000000000000" pitchFamily="2" charset="0"/>
              </a:rPr>
              <a:t>M1-8-A first program: blink an LED on a Nucleo-H743ZI board</a:t>
            </a:r>
            <a:endParaRPr lang="en-US" sz="2100" b="1" dirty="0">
              <a:solidFill>
                <a:srgbClr val="C00000"/>
              </a:solidFill>
              <a:latin typeface="Verdana"/>
              <a:cs typeface="Poppins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1524000" y="5966462"/>
            <a:ext cx="9144000" cy="3428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  <a:latin typeface="Verdana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1524000" y="857252"/>
            <a:ext cx="9144000" cy="3428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  <a:latin typeface="Verdana"/>
            </a:endParaRP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91029" y="918710"/>
            <a:ext cx="1882397" cy="7961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41933-75ED-A248-81D0-67FBB70C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AAFFC-C35F-A933-BE27-FDD8553E2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915" y="500062"/>
            <a:ext cx="10515600" cy="1325563"/>
          </a:xfrm>
        </p:spPr>
        <p:txBody>
          <a:bodyPr>
            <a:normAutofit/>
          </a:bodyPr>
          <a:lstStyle/>
          <a:p>
            <a:pPr marR="0" rtl="0"/>
            <a:r>
              <a:rPr lang="en-US" sz="40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M1-8-A first program: blink an LED on a Nucleo-H743ZI 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83E20-B1BF-77B2-7F03-5BEE4D5DD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marR="0" lvl="0" indent="0" rtl="0">
              <a:buNone/>
            </a:pPr>
            <a:r>
              <a:rPr lang="en-IN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Hardware Info</a:t>
            </a:r>
          </a:p>
          <a:p>
            <a:pPr marR="0" lvl="0" rtl="0"/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User LED (LD1) → PA5 </a:t>
            </a:r>
          </a:p>
          <a:p>
            <a:pPr marR="0" lvl="0" rtl="0"/>
            <a:r>
              <a:rPr lang="en-US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LED is active via GPIO output </a:t>
            </a:r>
          </a:p>
          <a:p>
            <a:pPr marL="0" marR="0" lvl="0" indent="0" rtl="0">
              <a:buNone/>
            </a:pPr>
            <a:r>
              <a:rPr lang="en-IN" b="0" i="0" u="none" strike="noStrike" baseline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CubeMX</a:t>
            </a:r>
            <a:r>
              <a:rPr lang="en-IN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 Configuration</a:t>
            </a:r>
          </a:p>
          <a:p>
            <a:pPr marR="0" lvl="0" rtl="0"/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In the .</a:t>
            </a:r>
            <a:r>
              <a:rPr lang="en-IN" b="0" i="0" u="none" strike="noStrike" baseline="0" dirty="0" err="1">
                <a:solidFill>
                  <a:srgbClr val="2F5496"/>
                </a:solidFill>
                <a:latin typeface="Times New Roman" panose="02020603050405020304" pitchFamily="18" charset="0"/>
              </a:rPr>
              <a:t>ioc</a:t>
            </a: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file:</a:t>
            </a:r>
          </a:p>
          <a:p>
            <a:pPr marR="0" lvl="0" rtl="0"/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Set PA5 → </a:t>
            </a:r>
            <a:r>
              <a:rPr lang="en-IN" b="0" i="0" u="none" strike="noStrike" baseline="0" dirty="0" err="1">
                <a:solidFill>
                  <a:srgbClr val="2F5496"/>
                </a:solidFill>
                <a:latin typeface="Times New Roman" panose="02020603050405020304" pitchFamily="18" charset="0"/>
              </a:rPr>
              <a:t>GPIO_Output</a:t>
            </a: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</a:t>
            </a:r>
          </a:p>
          <a:p>
            <a:pPr marR="0" lvl="0" rtl="0"/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No pull-up/pull-down </a:t>
            </a:r>
          </a:p>
          <a:p>
            <a:pPr marR="0" lvl="0" rtl="0"/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Keep default clock settings </a:t>
            </a:r>
          </a:p>
          <a:p>
            <a:pPr marR="0" lvl="0" rtl="0"/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Generate code 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6DE46057-410A-5FA0-CD3F-FAE006355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30188"/>
            <a:ext cx="1882397" cy="7961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1593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C3B9-C144-FB2C-574D-DA8521E44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056" y="522152"/>
            <a:ext cx="10515600" cy="1325563"/>
          </a:xfrm>
        </p:spPr>
        <p:txBody>
          <a:bodyPr/>
          <a:lstStyle/>
          <a:p>
            <a:pPr marR="0" rtl="0"/>
            <a:r>
              <a:rPr lang="en-IN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Program 1.LED Blink Program (</a:t>
            </a:r>
            <a:r>
              <a:rPr lang="en-IN" b="0" i="0" u="none" strike="noStrike" baseline="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main.c</a:t>
            </a:r>
            <a:r>
              <a:rPr lang="en-IN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F7302-29E2-1E41-A9F0-42C99CB4B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en-US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Write only inside USER CODE section:</a:t>
            </a:r>
          </a:p>
          <a:p>
            <a:pPr marR="0" lvl="0" rtl="0"/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/* USER CODE BEGIN WHILE */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while (1)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{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   </a:t>
            </a:r>
            <a:r>
              <a:rPr lang="en-IN" b="0" i="0" u="none" strike="noStrike" baseline="0" dirty="0" err="1">
                <a:solidFill>
                  <a:srgbClr val="2F5496"/>
                </a:solidFill>
                <a:latin typeface="Times New Roman" panose="02020603050405020304" pitchFamily="18" charset="0"/>
              </a:rPr>
              <a:t>HAL_GPIO_WritePin</a:t>
            </a: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(GPIOA, GPIO_PIN_5, GPIO_PIN_SET);   // LED ON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   </a:t>
            </a:r>
            <a:r>
              <a:rPr lang="en-IN" b="0" i="0" u="none" strike="noStrike" baseline="0" dirty="0" err="1">
                <a:solidFill>
                  <a:srgbClr val="2F5496"/>
                </a:solidFill>
                <a:latin typeface="Times New Roman" panose="02020603050405020304" pitchFamily="18" charset="0"/>
              </a:rPr>
              <a:t>HAL_Delay</a:t>
            </a: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(500);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/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   </a:t>
            </a:r>
            <a:r>
              <a:rPr lang="en-IN" b="0" i="0" u="none" strike="noStrike" baseline="0" dirty="0" err="1">
                <a:solidFill>
                  <a:srgbClr val="2F5496"/>
                </a:solidFill>
                <a:latin typeface="Times New Roman" panose="02020603050405020304" pitchFamily="18" charset="0"/>
              </a:rPr>
              <a:t>HAL_GPIO_WritePin</a:t>
            </a: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(GPIOA, GPIO_PIN_5, GPIO_PIN_RESET); // LED OFF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   </a:t>
            </a:r>
            <a:r>
              <a:rPr lang="en-IN" b="0" i="0" u="none" strike="noStrike" baseline="0" dirty="0" err="1">
                <a:solidFill>
                  <a:srgbClr val="2F5496"/>
                </a:solidFill>
                <a:latin typeface="Times New Roman" panose="02020603050405020304" pitchFamily="18" charset="0"/>
              </a:rPr>
              <a:t>HAL_Delay</a:t>
            </a: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(500);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}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/* USER CODE END WHILE */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77E8A799-AD4D-EB0C-EB6A-2B28C5568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2344" y="124053"/>
            <a:ext cx="1882397" cy="7961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954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5FD42-13AD-16B9-ED98-147572988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0" i="0" u="none" strike="noStrike" baseline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Program-2:Toggle </a:t>
            </a:r>
            <a:r>
              <a:rPr lang="en-IN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Program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F29A7-2237-C142-D76C-8F632AE02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/* USER CODE BEGIN WHILE */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while (1)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{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   </a:t>
            </a:r>
            <a:r>
              <a:rPr lang="en-IN" b="0" i="0" u="none" strike="noStrike" baseline="0" dirty="0" err="1">
                <a:solidFill>
                  <a:srgbClr val="2F5496"/>
                </a:solidFill>
                <a:latin typeface="Times New Roman" panose="02020603050405020304" pitchFamily="18" charset="0"/>
              </a:rPr>
              <a:t>HAL_GPIO_TogglePin</a:t>
            </a: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(GPIOA, GPIO_PIN_5);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   </a:t>
            </a:r>
            <a:r>
              <a:rPr lang="en-IN" b="0" i="0" u="none" strike="noStrike" baseline="0" dirty="0" err="1">
                <a:solidFill>
                  <a:srgbClr val="2F5496"/>
                </a:solidFill>
                <a:latin typeface="Times New Roman" panose="02020603050405020304" pitchFamily="18" charset="0"/>
              </a:rPr>
              <a:t>HAL_Delay</a:t>
            </a: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(500);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}</a:t>
            </a:r>
            <a:b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IN" b="0" i="0" u="none" strike="noStrike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/* USER CODE END WHILE */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C9741BC5-5F0F-7815-5685-45BF5EDB9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029" y="0"/>
            <a:ext cx="1882397" cy="7961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9596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~present</Template>
  <TotalTime>2</TotalTime>
  <Words>96</Words>
  <Application>Microsoft Office PowerPoint</Application>
  <PresentationFormat>Widescreen</PresentationFormat>
  <Paragraphs>22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BioRhyme ExtraBold</vt:lpstr>
      <vt:lpstr>Calibri</vt:lpstr>
      <vt:lpstr>Calibri Light</vt:lpstr>
      <vt:lpstr>Poppins</vt:lpstr>
      <vt:lpstr>Times New Roman</vt:lpstr>
      <vt:lpstr>Verdana</vt:lpstr>
      <vt:lpstr>Office Theme</vt:lpstr>
      <vt:lpstr>PowerPoint Presentation</vt:lpstr>
      <vt:lpstr>M1-8-A first program: blink an LED on a Nucleo-H743ZI board</vt:lpstr>
      <vt:lpstr>Program 1.LED Blink Program (main.c)</vt:lpstr>
      <vt:lpstr>Program-2:Toggle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Rishikesh Kumar</dc:creator>
  <cp:lastModifiedBy>Dr. Prabakaran N</cp:lastModifiedBy>
  <cp:revision>2</cp:revision>
  <dcterms:created xsi:type="dcterms:W3CDTF">2026-06-18T09:47:35Z</dcterms:created>
  <dcterms:modified xsi:type="dcterms:W3CDTF">2026-06-30T16:23:02Z</dcterms:modified>
</cp:coreProperties>
</file>