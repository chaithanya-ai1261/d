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  <p:sldMasterId id="2147483660" r:id="rId2"/>
  </p:sldMasterIdLst>
  <p:notesMasterIdLst>
    <p:notesMasterId r:id="rId11"/>
  </p:notesMasterIdLst>
  <p:sldIdLst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2AB1BF-3359-4E45-8E2C-8C13BCE7C814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826F9A-91E2-4D1B-8F26-71D043A0B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999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9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756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468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9471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674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5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7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971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802299"/>
            <a:ext cx="6477805" cy="2541431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3531205"/>
            <a:ext cx="6477804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r>
              <a:rPr lang="en-US">
                <a:solidFill>
                  <a:prstClr val="black">
                    <a:tint val="75000"/>
                  </a:prstClr>
                </a:solidFill>
              </a:rPr>
              <a:t>&lt;COURSE TITLE&gt;, &lt;TOPIC NAME&gt;</a:t>
            </a:r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798973"/>
            <a:ext cx="608264" cy="503578"/>
          </a:xfrm>
        </p:spPr>
        <p:txBody>
          <a:bodyPr/>
          <a:lstStyle/>
          <a:p>
            <a:pPr defTabSz="342900"/>
            <a:fld id="{CBABCCC1-BF11-4F37-963E-1BCD5B23FD72}" type="slidenum">
              <a:rPr lang="en-IN" smtClean="0">
                <a:solidFill>
                  <a:srgbClr val="B71E42"/>
                </a:solidFill>
              </a:rPr>
              <a:pPr defTabSz="342900"/>
              <a:t>‹#›</a:t>
            </a:fld>
            <a:endParaRPr lang="en-IN">
              <a:solidFill>
                <a:srgbClr val="B71E42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3528542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3411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2722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802299"/>
            <a:ext cx="6477805" cy="2541431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3531205"/>
            <a:ext cx="6477804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r>
              <a:rPr lang="en-US">
                <a:solidFill>
                  <a:prstClr val="black">
                    <a:tint val="75000"/>
                  </a:prstClr>
                </a:solidFill>
              </a:rPr>
              <a:t>&lt;COURSE TITLE&gt;, &lt;TOPIC NAME&gt;</a:t>
            </a:r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798973"/>
            <a:ext cx="608264" cy="503578"/>
          </a:xfrm>
        </p:spPr>
        <p:txBody>
          <a:bodyPr/>
          <a:lstStyle/>
          <a:p>
            <a:pPr defTabSz="342900"/>
            <a:fld id="{CBABCCC1-BF11-4F37-963E-1BCD5B23FD72}" type="slidenum">
              <a:rPr lang="en-IN" smtClean="0">
                <a:solidFill>
                  <a:srgbClr val="B71E42"/>
                </a:solidFill>
              </a:rPr>
              <a:pPr defTabSz="342900"/>
              <a:t>‹#›</a:t>
            </a:fld>
            <a:endParaRPr lang="en-IN">
              <a:solidFill>
                <a:srgbClr val="B71E42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3528542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261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688068"/>
            <a:ext cx="9144000" cy="428574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804520"/>
            <a:ext cx="7202456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2015733"/>
            <a:ext cx="7202456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5" y="379084"/>
            <a:ext cx="26255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/>
            <a:r>
              <a:rPr lang="en-US">
                <a:solidFill>
                  <a:prstClr val="black">
                    <a:tint val="75000"/>
                  </a:prstClr>
                </a:solidFill>
              </a:rPr>
              <a:t>&lt;COURSE TITLE&gt;, &lt;TOPIC NAME&gt;</a:t>
            </a:r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7868" y="6291139"/>
            <a:ext cx="608264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1650">
                <a:solidFill>
                  <a:schemeClr val="accent1"/>
                </a:solidFill>
              </a:defRPr>
            </a:lvl1pPr>
          </a:lstStyle>
          <a:p>
            <a:pPr defTabSz="342900"/>
            <a:fld id="{CBABCCC1-BF11-4F37-963E-1BCD5B23FD72}" type="slidenum">
              <a:rPr lang="en-IN" smtClean="0">
                <a:solidFill>
                  <a:srgbClr val="B71E42"/>
                </a:solidFill>
              </a:rPr>
              <a:pPr defTabSz="342900"/>
              <a:t>‹#›</a:t>
            </a:fld>
            <a:endParaRPr lang="en-IN" dirty="0">
              <a:solidFill>
                <a:srgbClr val="B71E42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4" y="32700"/>
            <a:ext cx="914201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088684" y="6373098"/>
            <a:ext cx="2184149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6619128" y="6373098"/>
            <a:ext cx="1672013" cy="33502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CE5EA-DD3D-FAC2-A187-8E8580C62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659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5" r:id="rId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7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804520"/>
            <a:ext cx="7202456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2015733"/>
            <a:ext cx="7202456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5" y="379084"/>
            <a:ext cx="26255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/>
            <a:r>
              <a:rPr lang="en-US">
                <a:solidFill>
                  <a:prstClr val="black">
                    <a:tint val="75000"/>
                  </a:prstClr>
                </a:solidFill>
              </a:rPr>
              <a:t>&lt;COURSE TITLE&gt;, &lt;TOPIC NAME&gt;</a:t>
            </a:r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7868" y="6291139"/>
            <a:ext cx="608264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1650">
                <a:solidFill>
                  <a:schemeClr val="accent1"/>
                </a:solidFill>
              </a:defRPr>
            </a:lvl1pPr>
          </a:lstStyle>
          <a:p>
            <a:pPr defTabSz="342900"/>
            <a:fld id="{CBABCCC1-BF11-4F37-963E-1BCD5B23FD72}" type="slidenum">
              <a:rPr lang="en-IN" smtClean="0">
                <a:solidFill>
                  <a:srgbClr val="B71E42"/>
                </a:solidFill>
              </a:rPr>
              <a:pPr defTabSz="342900"/>
              <a:t>‹#›</a:t>
            </a:fld>
            <a:endParaRPr lang="en-IN" dirty="0">
              <a:solidFill>
                <a:srgbClr val="B71E42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4" y="32700"/>
            <a:ext cx="914201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088684" y="6373098"/>
            <a:ext cx="2184149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6619128" y="6373098"/>
            <a:ext cx="1672013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952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857250"/>
            <a:ext cx="3474720" cy="5143500"/>
          </a:xfrm>
          <a:prstGeom prst="rect">
            <a:avLst/>
          </a:prstGeom>
          <a:solidFill>
            <a:srgbClr val="006D77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1405890"/>
            <a:ext cx="3474720" cy="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1908810"/>
            <a:ext cx="3474720" cy="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411730"/>
            <a:ext cx="3474720" cy="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0" y="2914650"/>
            <a:ext cx="3474720" cy="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3417570"/>
            <a:ext cx="3474720" cy="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0" y="3920490"/>
            <a:ext cx="3474720" cy="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0" y="4423410"/>
            <a:ext cx="3474720" cy="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4926330"/>
            <a:ext cx="3474720" cy="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5429250"/>
            <a:ext cx="3474720" cy="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27457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E29578"/>
          </a:solidFill>
          <a:ln/>
        </p:spPr>
      </p:sp>
      <p:sp>
        <p:nvSpPr>
          <p:cNvPr id="13" name="Shape 11"/>
          <p:cNvSpPr/>
          <p:nvPr/>
        </p:nvSpPr>
        <p:spPr>
          <a:xfrm>
            <a:off x="6492240" y="277749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94D2BD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328041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E9D8A6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378333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94D2BD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428625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0A939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26873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kern="0" spc="2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 ARCHITECTURE</a:t>
            </a: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11480" y="204597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STM32H7 memory map</a:t>
            </a: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11480" y="300609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Flash, ITCM, DTCM, AXI SRAM, and the peripheral region</a:t>
            </a: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2920" y="410337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 at where code and data live in the Cortex-M7 address space, and which bus gets you there</a:t>
            </a: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644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7772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30402"/>
            <a:ext cx="69494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77165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 in this presentation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2228850"/>
            <a:ext cx="4160520" cy="1051560"/>
          </a:xfrm>
          <a:prstGeom prst="roundRect">
            <a:avLst>
              <a:gd name="adj" fmla="val 5217"/>
            </a:avLst>
          </a:prstGeom>
          <a:solidFill>
            <a:srgbClr val="EBF5F8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235686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2356866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map 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68605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space at a glance, region by region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2228850"/>
            <a:ext cx="4160520" cy="1051560"/>
          </a:xfrm>
          <a:prstGeom prst="roundRect">
            <a:avLst>
              <a:gd name="adj" fmla="val 5217"/>
            </a:avLst>
          </a:prstGeom>
          <a:solidFill>
            <a:srgbClr val="EBF5F8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235686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669280" y="2356866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memory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0" y="268605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storage, the ART accelerator, and access latency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463290"/>
            <a:ext cx="4160520" cy="1051560"/>
          </a:xfrm>
          <a:prstGeom prst="roundRect">
            <a:avLst>
              <a:gd name="adj" fmla="val 5217"/>
            </a:avLst>
          </a:prstGeom>
          <a:solidFill>
            <a:srgbClr val="EBF5F8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59130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3591306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ITCM &amp; DTCM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92049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Tightly-coupled memory wired straight to the core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3463290"/>
            <a:ext cx="4160520" cy="1051560"/>
          </a:xfrm>
          <a:prstGeom prst="roundRect">
            <a:avLst>
              <a:gd name="adj" fmla="val 5217"/>
            </a:avLst>
          </a:prstGeom>
          <a:solidFill>
            <a:srgbClr val="EBF5F8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359130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0" y="3591306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SRAM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0" y="392049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RAM shared by CPU and DMA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697730"/>
            <a:ext cx="4160520" cy="1051560"/>
          </a:xfrm>
          <a:prstGeom prst="roundRect">
            <a:avLst>
              <a:gd name="adj" fmla="val 5217"/>
            </a:avLst>
          </a:prstGeom>
          <a:solidFill>
            <a:srgbClr val="EBF5F8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482574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34440" y="4825746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region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515493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Memory-mapped registers and the AHB/APB bridge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4697730"/>
            <a:ext cx="4160520" cy="1051560"/>
          </a:xfrm>
          <a:prstGeom prst="roundRect">
            <a:avLst>
              <a:gd name="adj" fmla="val 5217"/>
            </a:avLst>
          </a:prstGeom>
          <a:solidFill>
            <a:srgbClr val="EBF5F8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482574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669280" y="4825746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0" y="515493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each region to the right use case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732520" y="572185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23738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7772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30402"/>
            <a:ext cx="69494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map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81737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regions, each reached over a different bus path. The choice of region is a choice about speed, sharing, and access pattern.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2868930"/>
            <a:ext cx="91440" cy="91440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5920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access paths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301523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ITCM/DTCM bypass the AXI matrix; everything else routes through it.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3710178"/>
            <a:ext cx="91440" cy="91440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60045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vs. sharing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385648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Tightly-coupled memory is fastest, but isolated from DMA.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4551426"/>
            <a:ext cx="91440" cy="91440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444169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common ground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469773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SRAM is reachable by both the CPU and DMA controllers.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2411730"/>
            <a:ext cx="4160520" cy="603504"/>
          </a:xfrm>
          <a:prstGeom prst="roundRect">
            <a:avLst>
              <a:gd name="adj" fmla="val 9091"/>
            </a:avLst>
          </a:prstGeom>
          <a:solidFill>
            <a:srgbClr val="FBEAE3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44830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memory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0" y="2676906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0x0800 0000 - 0x081F FFFF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2832354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storage, up to 2 MB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17720" y="3079242"/>
            <a:ext cx="4160520" cy="603504"/>
          </a:xfrm>
          <a:prstGeom prst="roundRect">
            <a:avLst>
              <a:gd name="adj" fmla="val 9091"/>
            </a:avLst>
          </a:prstGeom>
          <a:solidFill>
            <a:srgbClr val="EBF5F8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11581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SRAM (D1 domain)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54880" y="3344418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0x2400 0000 onward, ~512 KB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3499866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CPU + DMA RAM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17720" y="3746754"/>
            <a:ext cx="4160520" cy="603504"/>
          </a:xfrm>
          <a:prstGeom prst="roundRect">
            <a:avLst>
              <a:gd name="adj" fmla="val 9091"/>
            </a:avLst>
          </a:prstGeom>
          <a:solidFill>
            <a:srgbClr val="F1F1E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78333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region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4880" y="4011930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0x4000 0000 - 0x5FFF FFFF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4167378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GPIO, USART, timers, RCC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17720" y="4414266"/>
            <a:ext cx="4160520" cy="603504"/>
          </a:xfrm>
          <a:prstGeom prst="roundRect">
            <a:avLst>
              <a:gd name="adj" fmla="val 9091"/>
            </a:avLst>
          </a:prstGeom>
          <a:solidFill>
            <a:srgbClr val="DDEFE9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445084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DTCM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54880" y="467944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0x2000 0000 - 0x2001 FFFF, 128 KB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4834890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bus, 0 wait-state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17720" y="5081778"/>
            <a:ext cx="4160520" cy="603504"/>
          </a:xfrm>
          <a:prstGeom prst="roundRect">
            <a:avLst>
              <a:gd name="adj" fmla="val 9091"/>
            </a:avLst>
          </a:prstGeom>
          <a:solidFill>
            <a:srgbClr val="DDEFE9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511835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ITCM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54880" y="5346954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0x0000 0000 - 0x0000 FFFF, 64 KB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550240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instruction bus, 0 wait-state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160520" y="221056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addr.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160520" y="571271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addr.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732520" y="572185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69584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7772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30402"/>
            <a:ext cx="69494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memory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77165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0x0800 0000 - 0x081F FFFF  ·  up to 2 MB, dual-bank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2137410"/>
            <a:ext cx="41605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●"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lives here: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program code and constant data; execution starts here after reset.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●"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path: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over the AXI bus through the embedded flash controller.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●"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cells are slower than SRAM, so reads need wait states at higher clocks.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●"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Caching: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ART accelerator and instruction cache sit in front of flash to hide that latency.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●"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tip: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loops are often copied into ITCM or SRAM at startup to avoid wait states.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09160" y="2137410"/>
            <a:ext cx="4069080" cy="3520440"/>
          </a:xfrm>
          <a:prstGeom prst="roundRect">
            <a:avLst>
              <a:gd name="adj" fmla="val 1558"/>
            </a:avLst>
          </a:prstGeom>
          <a:solidFill>
            <a:srgbClr val="FBEAE3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0" y="2366010"/>
            <a:ext cx="15544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245745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array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37760" y="273177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MB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675120" y="2366010"/>
            <a:ext cx="15544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45745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+ I-cache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75120" y="273177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latency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06440" y="3600450"/>
            <a:ext cx="173736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369189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bus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06440" y="396621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06440" y="4652010"/>
            <a:ext cx="173736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474345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Cortex-M7 core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06440" y="501777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code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92240" y="2777490"/>
            <a:ext cx="182880" cy="0"/>
          </a:xfrm>
          <a:prstGeom prst="line">
            <a:avLst/>
          </a:prstGeom>
          <a:noFill/>
          <a:ln w="15875">
            <a:solidFill>
              <a:srgbClr val="E2957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675120" y="3234690"/>
            <a:ext cx="0" cy="36576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675120" y="4331970"/>
            <a:ext cx="0" cy="320040"/>
          </a:xfrm>
          <a:prstGeom prst="line">
            <a:avLst/>
          </a:prstGeom>
          <a:noFill/>
          <a:ln w="15875">
            <a:solidFill>
              <a:srgbClr val="0D2B55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732520" y="572185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93481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7772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30402"/>
            <a:ext cx="69494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ITCM and DTCM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77165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ITCM 0x0000 0000-0x0000 FFFF · DTCM 0x2000 0000-0x2001 FFFF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2137410"/>
            <a:ext cx="41605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●"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core connection: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straight to the Cortex-M7's dedicated buses, bypassing the AXI matrix entirely.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●"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ITCM: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instructions on the instruction bus, ideal for interrupt handlers and hot code paths.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●"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DTCM: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data on the data bus, best for stacks and buffers needing deterministic timing.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●"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wait-state, full core-speed access; the fastest memory on the chip.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●"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gotcha: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controllers cannot efficiently reach DTCM since it sits off the AXI matrix.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09160" y="2137410"/>
            <a:ext cx="4069080" cy="3520440"/>
          </a:xfrm>
          <a:prstGeom prst="roundRect">
            <a:avLst>
              <a:gd name="adj" fmla="val 1558"/>
            </a:avLst>
          </a:prstGeom>
          <a:solidFill>
            <a:srgbClr val="EBF5F8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97880" y="3280410"/>
            <a:ext cx="1554480" cy="960120"/>
          </a:xfrm>
          <a:prstGeom prst="roundRect">
            <a:avLst>
              <a:gd name="adj" fmla="val 5714"/>
            </a:avLst>
          </a:prstGeom>
          <a:solidFill>
            <a:srgbClr val="0D2B55"/>
          </a:solidFill>
          <a:ln/>
        </p:spPr>
      </p:sp>
      <p:sp>
        <p:nvSpPr>
          <p:cNvPr id="8" name="Text 6"/>
          <p:cNvSpPr/>
          <p:nvPr/>
        </p:nvSpPr>
        <p:spPr>
          <a:xfrm>
            <a:off x="5897880" y="328041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Cortex-M7</a:t>
            </a:r>
            <a:endParaRPr lang="en-US" sz="1100" dirty="0"/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2366010"/>
            <a:ext cx="14173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44830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268605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bus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178040" y="2366010"/>
            <a:ext cx="14173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244830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DTCM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78040" y="268605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bus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623560" y="3079242"/>
            <a:ext cx="502920" cy="228600"/>
          </a:xfrm>
          <a:prstGeom prst="line">
            <a:avLst/>
          </a:prstGeom>
          <a:noFill/>
          <a:ln w="15875">
            <a:solidFill>
              <a:srgbClr val="006D7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818120" y="3079242"/>
            <a:ext cx="0" cy="228600"/>
          </a:xfrm>
          <a:prstGeom prst="line">
            <a:avLst/>
          </a:prstGeom>
          <a:noFill/>
          <a:ln w="15875">
            <a:solidFill>
              <a:srgbClr val="006D7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97880" y="456057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475569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897880" y="456057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controller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75120" y="4240530"/>
            <a:ext cx="0" cy="274320"/>
          </a:xfrm>
          <a:prstGeom prst="line">
            <a:avLst/>
          </a:prstGeom>
          <a:noFill/>
          <a:ln w="13970">
            <a:solidFill>
              <a:srgbClr val="475569"/>
            </a:solidFill>
            <a:prstDash val="dash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937760" y="477088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efficient path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732520" y="572185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42111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7772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30402"/>
            <a:ext cx="69494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SRAM (D1 domain)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77165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0x2400 0000 onward  ·  ~512 KB, plus SRAM1-4 elsewhere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2137410"/>
            <a:ext cx="41605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●"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RAM: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on the main AXI crossbar rather than a dedicated core bus.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●"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access: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by the Cortex-M7 core and by DMA controllers and other bus masters.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●"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use: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natural home for buffers shared between peripherals and application code.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●"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flexible than TCM, but contends with other bus masters at AXI bus speed.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●"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D1: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SRAM1-4 blocks exist in other power domains for specialised sharing.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09160" y="2137410"/>
            <a:ext cx="4069080" cy="3520440"/>
          </a:xfrm>
          <a:prstGeom prst="roundRect">
            <a:avLst>
              <a:gd name="adj" fmla="val 1558"/>
            </a:avLst>
          </a:prstGeom>
          <a:solidFill>
            <a:srgbClr val="EBF5F8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3560" y="2320290"/>
            <a:ext cx="1920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23560" y="239344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SRAM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23560" y="264033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KB shared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0" y="2978658"/>
            <a:ext cx="0" cy="301752"/>
          </a:xfrm>
          <a:prstGeom prst="line">
            <a:avLst/>
          </a:prstGeom>
          <a:noFill/>
          <a:ln w="15875">
            <a:solidFill>
              <a:srgbClr val="0A93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328041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006D77"/>
          </a:solidFill>
          <a:ln/>
        </p:spPr>
      </p:sp>
      <p:sp>
        <p:nvSpPr>
          <p:cNvPr id="12" name="Text 10"/>
          <p:cNvSpPr/>
          <p:nvPr/>
        </p:nvSpPr>
        <p:spPr>
          <a:xfrm>
            <a:off x="5806440" y="328041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crossbar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83480" y="4286250"/>
            <a:ext cx="10058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428625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 flipH="1">
            <a:off x="5486400" y="3737610"/>
            <a:ext cx="1097280" cy="548640"/>
          </a:xfrm>
          <a:prstGeom prst="line">
            <a:avLst/>
          </a:prstGeom>
          <a:noFill/>
          <a:ln w="12700">
            <a:solidFill>
              <a:srgbClr val="0A939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63640" y="4286250"/>
            <a:ext cx="10058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428625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83680" y="3737610"/>
            <a:ext cx="182880" cy="548640"/>
          </a:xfrm>
          <a:prstGeom prst="line">
            <a:avLst/>
          </a:prstGeom>
          <a:noFill/>
          <a:ln w="12700">
            <a:solidFill>
              <a:srgbClr val="0A939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43800" y="4286250"/>
            <a:ext cx="10058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428625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0" y="3737610"/>
            <a:ext cx="1463040" cy="548640"/>
          </a:xfrm>
          <a:prstGeom prst="line">
            <a:avLst/>
          </a:prstGeom>
          <a:noFill/>
          <a:ln w="12700">
            <a:solidFill>
              <a:srgbClr val="0A9396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846320" y="483489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bus masters reach the same RAM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732520" y="572185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24567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7772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30402"/>
            <a:ext cx="69494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region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77165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0x4000 0000 - 0x5FFF FFFF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2137410"/>
            <a:ext cx="41605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●"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lives here: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Memory-mapped registers for every on-chip peripheral: GPIO, USART, SPI, timers, RCC.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●"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path: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over AHB and APB buses, which bridge into the main AXI matrix.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●"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rules: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non-cacheable and strictly-ordered by default in the MPU configuration.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●"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must reflect real hardware state immediately, never a stale cached value.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●"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effect: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 always hit the hardware directly, never a cache line.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09160" y="2137410"/>
            <a:ext cx="4069080" cy="3520440"/>
          </a:xfrm>
          <a:prstGeom prst="roundRect">
            <a:avLst>
              <a:gd name="adj" fmla="val 1558"/>
            </a:avLst>
          </a:prstGeom>
          <a:solidFill>
            <a:srgbClr val="F1F1E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3560" y="2274570"/>
            <a:ext cx="1920240" cy="548640"/>
          </a:xfrm>
          <a:prstGeom prst="roundRect">
            <a:avLst>
              <a:gd name="adj" fmla="val 8333"/>
            </a:avLst>
          </a:prstGeom>
          <a:solidFill>
            <a:srgbClr val="0D2B55"/>
          </a:solidFill>
          <a:ln/>
        </p:spPr>
      </p:sp>
      <p:sp>
        <p:nvSpPr>
          <p:cNvPr id="8" name="Text 6"/>
          <p:cNvSpPr/>
          <p:nvPr/>
        </p:nvSpPr>
        <p:spPr>
          <a:xfrm>
            <a:off x="5623560" y="227457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matrix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0" y="2823210"/>
            <a:ext cx="0" cy="27432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0" y="3097530"/>
            <a:ext cx="16459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309753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/ APB bridge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0" y="3536442"/>
            <a:ext cx="0" cy="27432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4057650"/>
            <a:ext cx="713232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4057650"/>
            <a:ext cx="713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50992" y="4057650"/>
            <a:ext cx="713232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50992" y="4057650"/>
            <a:ext cx="713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55664" y="4057650"/>
            <a:ext cx="713232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5664" y="4057650"/>
            <a:ext cx="713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260336" y="4057650"/>
            <a:ext cx="713232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0336" y="4057650"/>
            <a:ext cx="713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065008" y="4057650"/>
            <a:ext cx="713232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5008" y="4057650"/>
            <a:ext cx="713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RCC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46320" y="465201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registers, accessed directly - no caching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32520" y="572185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87108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873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2036826"/>
            <a:ext cx="292608" cy="292608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3682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96112" y="197281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ITCM and DTCM are wired directly to the Cortex-M7 core, giving zero wait-state access at the cost of isolation from DMA.</a:t>
            </a:r>
            <a:endParaRPr lang="en-US" sz="1250" dirty="0">
              <a:solidFill>
                <a:srgbClr val="FF0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676906"/>
            <a:ext cx="292608" cy="292608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67690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96112" y="261289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SRAM is the common ground: the only region reachable by both the CPU and DMA controllers efficiently.</a:t>
            </a:r>
            <a:endParaRPr lang="en-US" sz="1250" dirty="0">
              <a:solidFill>
                <a:srgbClr val="FF0000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3316986"/>
            <a:ext cx="292608" cy="292608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31698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896112" y="325297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holds code but is the slowest region, so the ART accelerator and instruction cache mask its latency.</a:t>
            </a:r>
            <a:endParaRPr lang="en-US" sz="1250" dirty="0">
              <a:solidFill>
                <a:srgbClr val="FF0000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3957066"/>
            <a:ext cx="292608" cy="292608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95706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896112" y="389305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peripheral region is intentionally non-cacheable, so register reads always reflect real hardware state.</a:t>
            </a:r>
            <a:endParaRPr lang="en-US" sz="1250" dirty="0">
              <a:solidFill>
                <a:srgbClr val="FF0000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4597146"/>
            <a:ext cx="292608" cy="292608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5971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896112" y="453313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data and code to the right region is a deliberate trade-off between speed, sharing, and determinism.</a:t>
            </a:r>
            <a:endParaRPr lang="en-US" sz="1250" dirty="0">
              <a:solidFill>
                <a:srgbClr val="FF00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552069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Cortex-M7 + STM32H7 series</a:t>
            </a:r>
            <a:endParaRPr 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168801"/>
      </p:ext>
    </p:extLst>
  </p:cSld>
  <p:clrMapOvr>
    <a:masterClrMapping/>
  </p:clrMapOvr>
</p:sld>
</file>

<file path=ppt/theme/theme1.xml><?xml version="1.0" encoding="utf-8"?>
<a:theme xmlns:a="http://schemas.openxmlformats.org/drawingml/2006/main" name="1_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851</Words>
  <Application>Microsoft Office PowerPoint</Application>
  <PresentationFormat>On-screen Show (4:3)</PresentationFormat>
  <Paragraphs>134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Gill Sans MT</vt:lpstr>
      <vt:lpstr>1_Gallery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RAVI KANTH</dc:creator>
  <cp:keywords/>
  <dc:description>generated using python-pptx</dc:description>
  <cp:lastModifiedBy>Dr. Prabakaran N</cp:lastModifiedBy>
  <cp:revision>17</cp:revision>
  <dcterms:created xsi:type="dcterms:W3CDTF">2013-01-27T09:14:16Z</dcterms:created>
  <dcterms:modified xsi:type="dcterms:W3CDTF">2026-06-30T16:14:59Z</dcterms:modified>
  <cp:category/>
</cp:coreProperties>
</file>